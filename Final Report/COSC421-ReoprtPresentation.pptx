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Montserrat"/>
      <p:regular r:id="rId36"/>
      <p:bold r:id="rId37"/>
      <p:italic r:id="rId38"/>
      <p:boldItalic r:id="rId39"/>
    </p:embeddedFont>
    <p:embeddedFont>
      <p:font typeface="Lat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regular.fntdata"/><Relationship Id="rId20" Type="http://schemas.openxmlformats.org/officeDocument/2006/relationships/slide" Target="slides/slide15.xml"/><Relationship Id="rId42" Type="http://schemas.openxmlformats.org/officeDocument/2006/relationships/font" Target="fonts/Lato-italic.fntdata"/><Relationship Id="rId41" Type="http://schemas.openxmlformats.org/officeDocument/2006/relationships/font" Target="fonts/Lato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Lat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Montserrat-bold.fntdata"/><Relationship Id="rId14" Type="http://schemas.openxmlformats.org/officeDocument/2006/relationships/slide" Target="slides/slide9.xml"/><Relationship Id="rId36" Type="http://schemas.openxmlformats.org/officeDocument/2006/relationships/font" Target="fonts/Montserrat-regular.fntdata"/><Relationship Id="rId17" Type="http://schemas.openxmlformats.org/officeDocument/2006/relationships/slide" Target="slides/slide12.xml"/><Relationship Id="rId39" Type="http://schemas.openxmlformats.org/officeDocument/2006/relationships/font" Target="fonts/Montserrat-bold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e06686f76_6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e06686f76_6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dbffeda0e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dbffeda0e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dbffeda0e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dbffeda0e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e06686f76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e06686f76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e06686f76_4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e06686f76_4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e06686f76_4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e06686f76_4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dbffeda0e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dbffeda0e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dbffeda0e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dbffeda0e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dbffeda0e_0_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dbffeda0e_0_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e06686f76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e06686f76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dbffeda0e_0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dbffeda0e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dbffeda0e_0_8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dbffeda0e_0_8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e06686f76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e06686f76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e06686f76_6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e06686f76_6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e06686f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e06686f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Most nodes in and out degree is distributed in low level and show up a long tail feature. At the same time the log plot of in and out degree also show that our data set fit the power law.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e06686f76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e06686f76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e06686f7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ae06686f7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e06686f7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ae06686f7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e06686f76_6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ae06686f76_6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e06686f7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ae06686f7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e06686f76_6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ae06686f76_6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e06686f7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ae06686f7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e06686f76_6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ae06686f76_6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e06686f76_6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ae06686f76_6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e06686f7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ae06686f7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e06686f76_6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ae06686f76_6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e06686f76_6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ae06686f76_6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Newer research headed to the application of LLM and AI for Health and medicine research. It also headed toward interdisciplinary collaboration between AI, LLM, and Health, educational technology.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e06686f7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ae06686f7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dfcff18b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adfcff18b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hyperlink" Target="http://openalex.or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Relationship Id="rId4" Type="http://schemas.openxmlformats.org/officeDocument/2006/relationships/image" Target="../media/image3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>
                <a:latin typeface="Arial"/>
                <a:ea typeface="Arial"/>
                <a:cs typeface="Arial"/>
                <a:sym typeface="Arial"/>
              </a:rPr>
              <a:t>Mapping Influence and Evolution in AI Research: A Citation Network Analysis of Top Universities (2015–Present)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793950" y="3593525"/>
            <a:ext cx="45039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latin typeface="Arial"/>
                <a:ea typeface="Arial"/>
                <a:cs typeface="Arial"/>
                <a:sym typeface="Arial"/>
              </a:rPr>
              <a:t>By- Jinxi Hu, </a:t>
            </a:r>
            <a:r>
              <a:rPr lang="zh-CN" sz="1200">
                <a:latin typeface="Arial"/>
                <a:ea typeface="Arial"/>
                <a:cs typeface="Arial"/>
                <a:sym typeface="Arial"/>
              </a:rPr>
              <a:t>Johanes Panjaitan, Yuxuan Sun, Samarth Grover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Team Contribution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Jinxi Hu: Write the methology part of report, did data set clean and basic network analysis.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Johanes Panjaitan: Putting together final report draft, did connected network analysis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Samarth Grover: Wrote introduction and literature review section of report, did part of the initial network statistics </a:t>
            </a:r>
            <a:r>
              <a:rPr lang="zh-CN"/>
              <a:t>analysis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Yuxuan Sun: Collected initial data, analyzed the community structure of the full directed graph, as well as k-core decomposition and network robustness, wrote the Abstract and Conclusion sections for final report.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Introduction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152275"/>
            <a:ext cx="7038900" cy="35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516"/>
              <a:t>Research topic：</a:t>
            </a:r>
            <a:endParaRPr b="1" sz="15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Citation network analysis of AI research at top universities.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AI-related papers from the ten most research-active universities (2015–2025).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Model each paper as a node and each citation as a directed edge to study how influence and collaboration are structured.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516"/>
              <a:t>Research movement：</a:t>
            </a:r>
            <a:endParaRPr b="1" sz="15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AI research has expanded rapidly in the past decade, from traditional machine learning to deep learning and large language models.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Top universities produce a large share of highly cited AI papers that shape global research agendas.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Citation-network methods are increasingly used to “map science”, revealing hidden structures, subfields and cross-disciplinary links (e.g., AI in healthcare, education, law).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Research Questions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870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/>
              <a:t>1.     Which paper is the most impactful?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500"/>
              <a:t>2.     What subtopics have the highest concentration of research?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500"/>
              <a:t>3.     Which institution has the most research output?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500"/>
              <a:t>4.     What is the oldest paper that has sustained relevance?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500"/>
              <a:t>5.     Where is the newer research headed?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Related Work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152275"/>
            <a:ext cx="7038900" cy="35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516"/>
              <a:t>Bibliometric Studies of AI Research</a:t>
            </a:r>
            <a:r>
              <a:rPr b="1" lang="zh-CN" sz="1516"/>
              <a:t>：</a:t>
            </a:r>
            <a:endParaRPr b="1" sz="15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Mardiani &amp; Iswahyudi (2023)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Mapped global AI publication growth using VOS viewer(1974–2023)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Identified thematic clusters and country-level output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zh-CN"/>
              <a:t>Limitations</a:t>
            </a:r>
            <a:r>
              <a:rPr lang="zh-CN"/>
              <a:t>: </a:t>
            </a:r>
            <a:r>
              <a:rPr i="1" lang="zh-CN"/>
              <a:t>Very broad timeline; no institutional comparison; misses impact of LLM era</a:t>
            </a:r>
            <a:endParaRPr i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Fan et al. (2024)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Bibliometric review of 5,000+ LLM papers (2017–2023)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Characterized rapid growth and interdisciplinarity in LLM research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Limitation: No citation network analysis or structural evaluation of influence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Related Work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152275"/>
            <a:ext cx="7038900" cy="35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516"/>
              <a:t>Citation Network &amp; Impact Metrics Research</a:t>
            </a:r>
            <a:r>
              <a:rPr b="1" lang="zh-CN" sz="1516"/>
              <a:t>：</a:t>
            </a:r>
            <a:endParaRPr b="1" sz="151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Costa &amp; Frigori (2024)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Modeled AI citations as complex systems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Identified structural shifts over time using entropy &amp; degree changes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Limitation: Global view only; no institutional structure or community mapping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Fiala &amp; Tutoky (2017)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Compared PageRank vs citation counts for predicting influential researchers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Finding: PageRank better captures true impact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Limitation: Author-based analysis; not applied to AI subfields or institutions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Research Gap &amp; Contribution of This Study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152275"/>
            <a:ext cx="7038900" cy="3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516"/>
              <a:t>Gaps in Existing Literature: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Existing datasets end before LLM-driven paradigm shift (2022–2024)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No study focus</a:t>
            </a:r>
            <a:r>
              <a:rPr lang="zh-CN"/>
              <a:t>es on top universities as the unit of analysis</a:t>
            </a:r>
            <a:endParaRPr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Limited studies using </a:t>
            </a:r>
            <a:r>
              <a:rPr lang="zh-CN"/>
              <a:t>Citation networks</a:t>
            </a:r>
            <a:r>
              <a:rPr lang="zh-CN"/>
              <a:t> </a:t>
            </a:r>
            <a:r>
              <a:rPr lang="zh-CN" sz="1000"/>
              <a:t>(with PageRank, centrality metrics &amp; Community detection)</a:t>
            </a:r>
            <a:r>
              <a:rPr lang="zh-CN" sz="1200"/>
              <a:t> </a:t>
            </a:r>
            <a:endParaRPr sz="1200"/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No analysis of bridge papers connecting disparate AI subfields</a:t>
            </a:r>
            <a:endParaRPr/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516"/>
              <a:t>Our Study:</a:t>
            </a:r>
            <a:endParaRPr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Provides a decade-long structural view of AI research evolution, with focus on LLMs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Highlights top 10 institutions to reveal influence distribution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CN"/>
              <a:t>Builds a directed citation network (2,610 papers, 3,757 citations) and applies: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zh-CN"/>
              <a:t>PageRank, betweenness, closeness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zh-CN"/>
              <a:t>Louvain community detection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zh-CN"/>
              <a:t>Temporal analysis (2015–2025)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6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Methodology: Data source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3295225"/>
            <a:ext cx="7038900" cy="11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014739"/>
            <a:ext cx="4848901" cy="228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1297500" y="3295225"/>
            <a:ext cx="76356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-"/>
            </a:pPr>
            <a:r>
              <a:rPr lang="zh-C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All data we use are </a:t>
            </a:r>
            <a:r>
              <a:rPr lang="zh-C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from websit </a:t>
            </a:r>
            <a:r>
              <a:rPr b="1" i="1" lang="zh-C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OpenAlex</a:t>
            </a:r>
            <a:r>
              <a:rPr lang="zh-C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zh-CN" sz="15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openalex.org</a:t>
            </a:r>
            <a:r>
              <a:rPr lang="zh-C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 open, free, and globally comprehensive index of scholarly publications.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Can provide article informations and citation relations as data set.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Methodology: </a:t>
            </a:r>
            <a:r>
              <a:rPr lang="zh-CN"/>
              <a:t>Data source</a:t>
            </a:r>
            <a:endParaRPr/>
          </a:p>
        </p:txBody>
      </p:sp>
      <p:sp>
        <p:nvSpPr>
          <p:cNvPr id="185" name="Google Shape;185;p21"/>
          <p:cNvSpPr txBox="1"/>
          <p:nvPr>
            <p:ph idx="1" type="body"/>
          </p:nvPr>
        </p:nvSpPr>
        <p:spPr>
          <a:xfrm>
            <a:off x="2962300" y="2346400"/>
            <a:ext cx="57135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Article data set include article’s subtopic and institutions.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Articles are treated as Nodes.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Total over 60000 articles are collected, but most are empty.</a:t>
            </a:r>
            <a:endParaRPr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 sz="1300"/>
              <a:t>We clean up those empty articles and their related citations.</a:t>
            </a:r>
            <a:endParaRPr sz="1300"/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1" y="981875"/>
            <a:ext cx="7038898" cy="1364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497" y="2538475"/>
            <a:ext cx="1664800" cy="197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2917750" y="3639400"/>
            <a:ext cx="5802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Citations are treated as Direct Edges.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1297500" y="393750"/>
            <a:ext cx="7038900" cy="6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Data analysis  - cleaned raw data </a:t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1297500" y="1014750"/>
            <a:ext cx="7635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Total number of articles in data set: 2160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Number of citation relations: 3722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567550"/>
            <a:ext cx="3286355" cy="29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4583850" y="1567550"/>
            <a:ext cx="37524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Many isolated nodes </a:t>
            </a: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surround</a:t>
            </a: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the biggest connected component.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Those nodes actually cite articles which published before 2015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Number of isolated nodes: 1028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type="title"/>
          </p:nvPr>
        </p:nvSpPr>
        <p:spPr>
          <a:xfrm>
            <a:off x="1297500" y="393750"/>
            <a:ext cx="7038900" cy="6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Data analysis  - cleaned raw data </a:t>
            </a:r>
            <a:endParaRPr/>
          </a:p>
        </p:txBody>
      </p:sp>
      <p:sp>
        <p:nvSpPr>
          <p:cNvPr id="203" name="Google Shape;203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1297500" y="1014750"/>
            <a:ext cx="763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5" name="Google Shape;2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567550"/>
            <a:ext cx="3374535" cy="29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/>
          <p:nvPr/>
        </p:nvSpPr>
        <p:spPr>
          <a:xfrm>
            <a:off x="4672025" y="1567550"/>
            <a:ext cx="3664500" cy="24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The network which only include none-isolated nodes is what we will do further analysis on it.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Isolated nodes can not form network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Total number of non-isolated nodes: 1582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Total edges:  3722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/>
          <p:nvPr>
            <p:ph type="title"/>
          </p:nvPr>
        </p:nvSpPr>
        <p:spPr>
          <a:xfrm>
            <a:off x="1297500" y="393750"/>
            <a:ext cx="7038900" cy="6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Data analysis – data distribution</a:t>
            </a:r>
            <a:endParaRPr/>
          </a:p>
        </p:txBody>
      </p:sp>
      <p:sp>
        <p:nvSpPr>
          <p:cNvPr id="212" name="Google Shape;212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1297500" y="1014750"/>
            <a:ext cx="7635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Articles in none isolated set: 1582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Articles in isolated set: 1028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4" name="Google Shape;21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700" y="1567550"/>
            <a:ext cx="4132011" cy="29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9150" y="1567550"/>
            <a:ext cx="4243961" cy="291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Data analysis - data distribution</a:t>
            </a:r>
            <a:endParaRPr/>
          </a:p>
        </p:txBody>
      </p:sp>
      <p:sp>
        <p:nvSpPr>
          <p:cNvPr id="221" name="Google Shape;221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250" y="1498200"/>
            <a:ext cx="4447774" cy="304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5"/>
          <p:cNvSpPr txBox="1"/>
          <p:nvPr/>
        </p:nvSpPr>
        <p:spPr>
          <a:xfrm>
            <a:off x="4988025" y="1567550"/>
            <a:ext cx="33483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 our data sets Connected Nodes and Isolated Nodes show </a:t>
            </a: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similar</a:t>
            </a: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distribution in both subtopic and institutions.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zh-C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AI in Helath and Education is the most popular research topic in last 10 years.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-"/>
            </a:pPr>
            <a:r>
              <a:rPr lang="zh-CN" sz="1300">
                <a:solidFill>
                  <a:schemeClr val="lt1"/>
                </a:solidFill>
              </a:rPr>
              <a:t>Stanford University publish most of articles, followed by University Of Cambridge and Harvard University.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Data analysis - deeper in connect nodes set</a:t>
            </a:r>
            <a:endParaRPr/>
          </a:p>
        </p:txBody>
      </p:sp>
      <p:sp>
        <p:nvSpPr>
          <p:cNvPr id="229" name="Google Shape;229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We caculate out the In and out degree of nodes in connect nodes set.</a:t>
            </a:r>
            <a:endParaRPr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Find out </a:t>
            </a:r>
            <a:r>
              <a:rPr lang="zh-CN"/>
              <a:t>components</a:t>
            </a:r>
            <a:r>
              <a:rPr lang="zh-CN"/>
              <a:t> and focus ont he biggest component</a:t>
            </a:r>
            <a:r>
              <a:rPr lang="zh-CN"/>
              <a:t>.</a:t>
            </a:r>
            <a:endParaRPr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 sz="1300"/>
              <a:t>Biggest </a:t>
            </a:r>
            <a:r>
              <a:rPr lang="zh-CN" sz="1300"/>
              <a:t>component</a:t>
            </a:r>
            <a:r>
              <a:rPr lang="zh-CN" sz="1300"/>
              <a:t> include 1433 nodes which is 90% of connected nods.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Parameters we focus on:</a:t>
            </a:r>
            <a:endParaRPr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 sz="1300"/>
              <a:t>page rank, in degree, betweenness and </a:t>
            </a:r>
            <a:r>
              <a:rPr lang="zh-CN" sz="1300"/>
              <a:t>cloness centrality. </a:t>
            </a:r>
            <a:endParaRPr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 sz="1300"/>
              <a:t>for find noddes influence</a:t>
            </a:r>
            <a:endParaRPr sz="1300"/>
          </a:p>
          <a:p>
            <a:pPr indent="-3111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 sz="1300"/>
              <a:t>community and K-core. </a:t>
            </a:r>
            <a:endParaRPr sz="1300"/>
          </a:p>
          <a:p>
            <a:pPr indent="-31115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 sz="1300"/>
              <a:t> for find out </a:t>
            </a:r>
            <a:r>
              <a:rPr lang="zh-CN" sz="1300">
                <a:latin typeface="Montserrat"/>
                <a:ea typeface="Montserrat"/>
                <a:cs typeface="Montserrat"/>
                <a:sym typeface="Montserrat"/>
              </a:rPr>
              <a:t>concentration of nodes</a:t>
            </a:r>
            <a:endParaRPr sz="1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Degree Distribution</a:t>
            </a:r>
            <a:endParaRPr/>
          </a:p>
        </p:txBody>
      </p:sp>
      <p:sp>
        <p:nvSpPr>
          <p:cNvPr id="235" name="Google Shape;235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27" title="Screenshot 2025-12-05 at 7.01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7125" y="1340225"/>
            <a:ext cx="4325851" cy="139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7" title="Screenshot 2025-12-05 at 7.01.3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7125" y="2737100"/>
            <a:ext cx="4325849" cy="1706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Degree Distribution</a:t>
            </a:r>
            <a:endParaRPr/>
          </a:p>
        </p:txBody>
      </p:sp>
      <p:pic>
        <p:nvPicPr>
          <p:cNvPr id="243" name="Google Shape;24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018375"/>
            <a:ext cx="4815525" cy="380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RQ1: Most impactful paper</a:t>
            </a:r>
            <a:endParaRPr/>
          </a:p>
        </p:txBody>
      </p:sp>
      <p:sp>
        <p:nvSpPr>
          <p:cNvPr id="249" name="Google Shape;249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29" title="Screenshot 2025-12-05 at 7.02.5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50" y="1044400"/>
            <a:ext cx="3632676" cy="1700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850" y="2745225"/>
            <a:ext cx="3632676" cy="714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2474" y="1155275"/>
            <a:ext cx="5017325" cy="2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Most impactful papers combined metrics</a:t>
            </a:r>
            <a:endParaRPr/>
          </a:p>
        </p:txBody>
      </p:sp>
      <p:sp>
        <p:nvSpPr>
          <p:cNvPr id="258" name="Google Shape;258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013950"/>
            <a:ext cx="594360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RQ1: Most Impactful Paper</a:t>
            </a:r>
            <a:endParaRPr/>
          </a:p>
        </p:txBody>
      </p:sp>
      <p:sp>
        <p:nvSpPr>
          <p:cNvPr id="265" name="Google Shape;265;p31"/>
          <p:cNvSpPr txBox="1"/>
          <p:nvPr>
            <p:ph idx="1" type="body"/>
          </p:nvPr>
        </p:nvSpPr>
        <p:spPr>
          <a:xfrm>
            <a:off x="1232725" y="14574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Key Findings:</a:t>
            </a:r>
            <a:endParaRPr/>
          </a:p>
          <a:p>
            <a:pPr indent="-311150" lvl="0" marL="457200" rtl="0" algn="l">
              <a:lnSpc>
                <a:spcPct val="125454"/>
              </a:lnSpc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zh-CN">
                <a:solidFill>
                  <a:srgbClr val="FFFFFF"/>
                </a:solidFill>
              </a:rPr>
              <a:t>Can be observed that most of the papers with highest pagerank is in the subtopics of healthcare, such as AI in interpreting medical datasets, medicine, diagnostic accuracy, etc.</a:t>
            </a:r>
            <a:endParaRPr>
              <a:solidFill>
                <a:srgbClr val="FFFFFF"/>
              </a:solidFill>
            </a:endParaRPr>
          </a:p>
          <a:p>
            <a:pPr indent="-311150" lvl="0" marL="4572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-"/>
            </a:pPr>
            <a:r>
              <a:rPr lang="zh-CN">
                <a:solidFill>
                  <a:srgbClr val="FFFFFF"/>
                </a:solidFill>
              </a:rPr>
              <a:t>The subtopics of AI in healthcare is the most influential</a:t>
            </a:r>
            <a:endParaRPr/>
          </a:p>
          <a:p>
            <a:pPr indent="-311150" lvl="0" marL="4572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>
                <a:solidFill>
                  <a:srgbClr val="FFFFFF"/>
                </a:solidFill>
              </a:rPr>
              <a:t>Most of them are from around 2018 period.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2"/>
          <p:cNvSpPr txBox="1"/>
          <p:nvPr>
            <p:ph type="title"/>
          </p:nvPr>
        </p:nvSpPr>
        <p:spPr>
          <a:xfrm>
            <a:off x="1297500" y="4585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RQ2: Which subtopics has highest concentration of research</a:t>
            </a:r>
            <a:endParaRPr/>
          </a:p>
        </p:txBody>
      </p:sp>
      <p:pic>
        <p:nvPicPr>
          <p:cNvPr id="272" name="Google Shape;272;p32" title="Screenshot 2025-12-05 at 7.05.4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567548"/>
            <a:ext cx="5459475" cy="153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8" name="Google Shape;27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225" y="352750"/>
            <a:ext cx="3109850" cy="2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0775" y="352750"/>
            <a:ext cx="3658775" cy="25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3"/>
          <p:cNvSpPr txBox="1"/>
          <p:nvPr>
            <p:ph idx="1" type="body"/>
          </p:nvPr>
        </p:nvSpPr>
        <p:spPr>
          <a:xfrm>
            <a:off x="838300" y="3137825"/>
            <a:ext cx="7724100" cy="17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Key Findings</a:t>
            </a:r>
            <a:endParaRPr/>
          </a:p>
          <a:p>
            <a:pPr indent="-311150" lvl="0" marL="4572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>
                <a:solidFill>
                  <a:srgbClr val="FFFFFF"/>
                </a:solidFill>
              </a:rPr>
              <a:t>Can be observed from the table, AI in Healthcare is the most dominant topic in the research communities with highest concentration of papers. </a:t>
            </a:r>
            <a:endParaRPr>
              <a:solidFill>
                <a:srgbClr val="FFFFFF"/>
              </a:solidFill>
            </a:endParaRPr>
          </a:p>
          <a:p>
            <a:pPr indent="-311150" lvl="0" marL="4572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zh-CN">
                <a:solidFill>
                  <a:srgbClr val="FFFFFF"/>
                </a:solidFill>
              </a:rPr>
              <a:t>The existence of a few different subtopics in one community (such as AI in Games, Material Science, Law) shows interdisciplinary collaboration.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4"/>
          <p:cNvSpPr txBox="1"/>
          <p:nvPr>
            <p:ph type="title"/>
          </p:nvPr>
        </p:nvSpPr>
        <p:spPr>
          <a:xfrm>
            <a:off x="1297500" y="4455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RQ3: Which institution has the most research output?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34" title="Screenshot 2025-12-05 at 7.08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0900" y="1567551"/>
            <a:ext cx="3880576" cy="146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34" title="Screenshot 2025-12-05 at 7.09.3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0900" y="3075650"/>
            <a:ext cx="5545400" cy="117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4" title="Screenshot 2025-12-05 at 7.11.40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7975" y="1539350"/>
            <a:ext cx="2699650" cy="149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>
            <p:ph type="title"/>
          </p:nvPr>
        </p:nvSpPr>
        <p:spPr>
          <a:xfrm>
            <a:off x="1297500" y="1346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RQ3: Which institution has the most research output?</a:t>
            </a:r>
            <a:endParaRPr/>
          </a:p>
        </p:txBody>
      </p:sp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298650" y="3492800"/>
            <a:ext cx="8546700" cy="14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Key Findings: </a:t>
            </a:r>
            <a:endParaRPr/>
          </a:p>
          <a:p>
            <a:pPr indent="-30495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zh-CN"/>
              <a:t>Stanford leads in terms of number of papers. However, with the total PageRank numbers, harvard leads with the highest pagerank. 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zh-CN"/>
              <a:t>Publication quantity does not equal quality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zh-CN"/>
              <a:t>Research impact of a university depends more on how other influential papers cited that paper, not just a volume of papers.</a:t>
            </a:r>
            <a:endParaRPr/>
          </a:p>
        </p:txBody>
      </p:sp>
      <p:pic>
        <p:nvPicPr>
          <p:cNvPr id="296" name="Google Shape;29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25" y="892972"/>
            <a:ext cx="4282826" cy="243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0700" y="892975"/>
            <a:ext cx="4569875" cy="259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RQ4: What is the oldest paper that has sustained relevance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36" title="Screenshot 2025-12-05 at 7.13.0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475" y="1551900"/>
            <a:ext cx="4138249" cy="957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6" title="Screenshot 2025-12-05 at 7.13.1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475" y="2509170"/>
            <a:ext cx="4138247" cy="1082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6" title="Screenshot 2025-12-05 at 5.28.58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5775" y="1412525"/>
            <a:ext cx="4254200" cy="251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RQ4: What is the oldest paper that has sustained relevance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2" name="Google Shape;312;p37" title="Screenshot 2025-12-05 at 7.15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850" y="1441437"/>
            <a:ext cx="4073074" cy="2260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7" title="Screenshot 2025-12-05 at 5.12.3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5400" y="1371150"/>
            <a:ext cx="4327100" cy="245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RQ4: What is the oldest paper that has sustained relevance</a:t>
            </a:r>
            <a:endParaRPr/>
          </a:p>
        </p:txBody>
      </p:sp>
      <p:sp>
        <p:nvSpPr>
          <p:cNvPr id="319" name="Google Shape;319;p3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We identified foundation papers from 2015-2018 that receive citations from recent work </a:t>
            </a:r>
            <a:r>
              <a:rPr lang="zh-CN"/>
              <a:t>(papers that are published from 2020-2025) and maintain high closeness centrality.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/>
              <a:t>Key Findings: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zh-CN"/>
              <a:t>These papers remain central to ongoing research discussions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RQ5: Where is the newer research headed?</a:t>
            </a:r>
            <a:endParaRPr/>
          </a:p>
        </p:txBody>
      </p:sp>
      <p:sp>
        <p:nvSpPr>
          <p:cNvPr id="325" name="Google Shape;325;p3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6" name="Google Shape;326;p39" title="Screenshot 2025-12-05 at 7.16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374" y="1567556"/>
            <a:ext cx="4822026" cy="296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9" title="Screenshot 2025-12-05 at 7.19.1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0225" y="1674525"/>
            <a:ext cx="3149550" cy="16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40" title="Screenshot 2025-12-05 at 7.17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068753"/>
            <a:ext cx="6275700" cy="154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500" y="2659625"/>
            <a:ext cx="4830350" cy="18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RQ5: Where is the newer research headed?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RQ5: Where is the newer research headed?</a:t>
            </a:r>
            <a:endParaRPr/>
          </a:p>
        </p:txBody>
      </p:sp>
      <p:pic>
        <p:nvPicPr>
          <p:cNvPr id="341" name="Google Shape;341;p41" title="Screenshot 2025-12-05 at 7.21.1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0149" y="1307841"/>
            <a:ext cx="4280227" cy="2666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41" title="Screenshot 2025-12-05 at 7.21.3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076" y="1473725"/>
            <a:ext cx="3844225" cy="2196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Conclusion</a:t>
            </a:r>
            <a:endParaRPr/>
          </a:p>
        </p:txBody>
      </p:sp>
      <p:sp>
        <p:nvSpPr>
          <p:cNvPr id="348" name="Google Shape;348;p42"/>
          <p:cNvSpPr txBox="1"/>
          <p:nvPr>
            <p:ph idx="1" type="body"/>
          </p:nvPr>
        </p:nvSpPr>
        <p:spPr>
          <a:xfrm>
            <a:off x="1297500" y="1402250"/>
            <a:ext cx="7038900" cy="31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 sz="1400"/>
              <a:t>AI citation networks at top universities are scale-free: a small number of hub papers concentrate most of the influence.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 sz="1400"/>
              <a:t>Research impact does not simply follow publication volume; some universities achieve high influence with fewer but more central papers.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CN" sz="1400"/>
              <a:t>Recent work – especially AI in healthcare and large language models – drives explosive growth and connects previously separate research communities.</a:t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/>
              <a:t>Overall, AI research is shifting toward interdisciplinary, application-oriented work, and future influence will depend less on how many papers are published and more on producing trend-setting papers that bridge diverse domains.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